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32"/>
    <p:restoredTop sz="95934"/>
  </p:normalViewPr>
  <p:slideViewPr>
    <p:cSldViewPr snapToGrid="0">
      <p:cViewPr>
        <p:scale>
          <a:sx n="59" d="100"/>
          <a:sy n="59" d="100"/>
        </p:scale>
        <p:origin x="1104" y="1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C09995-187B-1369-6501-2362BE108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CDD9900-B18D-F75C-2BCF-C974BD73B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0567E8-84CC-D992-9DC3-42CCFC1EB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9B0A-E74F-1044-8A48-96C6A7522D20}" type="datetimeFigureOut">
              <a:rPr lang="fr-FR" smtClean="0"/>
              <a:t>18/02/2025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A9B412-163D-2120-2718-7C2D7BE3C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45361D-2209-E4DA-4EC4-A61A77A8A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6E5B-27E8-0640-AA67-DC74C01840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170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CBBF20-F9B5-9DC6-15C1-51466E3A7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280121-6888-962D-587D-61948583F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AFA537-F696-E0C2-A063-85DDAC230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9B0A-E74F-1044-8A48-96C6A7522D20}" type="datetimeFigureOut">
              <a:rPr lang="fr-FR" smtClean="0"/>
              <a:t>18/02/2025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FE378A-A5EF-EA74-AD61-CE91A1302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38AE5A-BA72-2BC9-E41A-9DFE51B1E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6E5B-27E8-0640-AA67-DC74C01840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1685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8EE81F-9FB8-2042-F2E5-2D73FDCB7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D361EA-3777-62C2-3E0C-ABA05648C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BB20F2-17DB-5258-0469-6F2E33E9F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9B0A-E74F-1044-8A48-96C6A7522D20}" type="datetimeFigureOut">
              <a:rPr lang="fr-FR" smtClean="0"/>
              <a:t>18/02/2025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EF5143-5076-BEF8-B5BF-6DCAAEA1E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BEFF28-B5A3-8228-9EE5-5CE13BFF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6E5B-27E8-0640-AA67-DC74C01840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6295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E141F5-EAFF-E3E3-C63C-12A0CB766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5A428E-6BB3-0668-E9E7-9319D3F8F3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BBF5A83-E2A1-DBD9-60FA-2FF76C39F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36F6867-2159-E282-5C8F-42CA23C5E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9B0A-E74F-1044-8A48-96C6A7522D20}" type="datetimeFigureOut">
              <a:rPr lang="fr-FR" smtClean="0"/>
              <a:t>18/02/2025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E1398E0-0A0A-4C55-206D-E5153BF79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8943CA9-7EF1-4E96-E4BF-96910085A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6E5B-27E8-0640-AA67-DC74C01840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4871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81993C-829C-3186-F748-BB45BC4D6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C6F30A5-25E7-254F-B891-356AF85AF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A8073A1-72EA-036C-13FF-8D8B6CBBA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3C0B53E-C915-7458-6DD4-0C537AC281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16A8370-EAC4-119B-598A-8C2E21BA36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AE02B0F-A407-4E50-A826-C75E7779B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9B0A-E74F-1044-8A48-96C6A7522D20}" type="datetimeFigureOut">
              <a:rPr lang="fr-FR" smtClean="0"/>
              <a:t>18/02/2025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5CF3E1A-B659-B8F1-119A-31B3483F6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1075F63-A517-C899-8857-1B639380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6E5B-27E8-0640-AA67-DC74C01840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0941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6F8639-0A91-5D93-ED91-45ECBFF3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1950B38-0089-2C31-871B-602E78634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9B0A-E74F-1044-8A48-96C6A7522D20}" type="datetimeFigureOut">
              <a:rPr lang="fr-FR" smtClean="0"/>
              <a:t>18/02/2025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A389BB0-6DE5-2515-1003-9B73D4691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BCC3489-9714-C281-3BB8-747C431D6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6E5B-27E8-0640-AA67-DC74C01840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1208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B574E95-6385-724C-E36D-F9DE91C2F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9B0A-E74F-1044-8A48-96C6A7522D20}" type="datetimeFigureOut">
              <a:rPr lang="fr-FR" smtClean="0"/>
              <a:t>18/02/2025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048954C-8CF9-5E04-87C0-5EF5789E6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58926E8-9F0C-5340-9997-B5E40F1A1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6E5B-27E8-0640-AA67-DC74C01840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210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D744B8-84F6-A5FA-01CE-B730CFA7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E71F3-FD60-ADB7-30DC-A63C78B5B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4770982-EB79-AF07-A1DD-DB63F95C0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1A2F1D-407D-FC65-BF42-31C821374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9B0A-E74F-1044-8A48-96C6A7522D20}" type="datetimeFigureOut">
              <a:rPr lang="fr-FR" smtClean="0"/>
              <a:t>18/02/2025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419B44-2661-68CC-1547-EE9456743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D881E8-0B1D-27FA-893C-9BFF1EE39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6E5B-27E8-0640-AA67-DC74C01840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0439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3D4A74-6BBE-7725-E08A-D2AC30016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77AC7E0-AAAB-2227-AE0B-7D97BC575E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6F6CCD1-8F2D-3410-3B35-1800148C7A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61E1D6-2977-C654-3D56-097668DDA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9B0A-E74F-1044-8A48-96C6A7522D20}" type="datetimeFigureOut">
              <a:rPr lang="fr-FR" smtClean="0"/>
              <a:t>18/02/2025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13B351B-0D07-B7A6-CAD2-12C2C06F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EB3C343-4628-8714-BF5B-FA3D310A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6E5B-27E8-0640-AA67-DC74C01840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0130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412C80-3FA1-AFB0-6365-CB234D8DD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09C4194-E585-F03A-B2AC-3E0E105D6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4C5A7F-0C0C-0D09-D8D5-037B14E99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9B0A-E74F-1044-8A48-96C6A7522D20}" type="datetimeFigureOut">
              <a:rPr lang="fr-FR" smtClean="0"/>
              <a:t>18/02/2025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9DEADB-D14A-65E2-3E37-0B39ED8C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68488D-139C-F4C0-80F0-6E21CAB9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6E5B-27E8-0640-AA67-DC74C01840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2721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58752FB-E4B8-B7CE-B9BA-DF3F4823C7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7DB0ABE-F071-A420-F491-42C9619BD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35A08A-3B2A-D50C-5232-28F4AF6D8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9B0A-E74F-1044-8A48-96C6A7522D20}" type="datetimeFigureOut">
              <a:rPr lang="fr-FR" smtClean="0"/>
              <a:t>18/02/2025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3199AE-457C-3A45-4C0C-2424684C3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0A8104-6F42-2C3C-4C1C-EFC36FEB8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6E5B-27E8-0640-AA67-DC74C01840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332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09F9A93-88F5-47B7-8F3C-7D950DE3C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36FDC5D-1052-5C55-3AA9-57ED63B62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40AE71-69B4-9A45-ADEF-D6EC39914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39B0A-E74F-1044-8A48-96C6A7522D20}" type="datetimeFigureOut">
              <a:rPr lang="fr-FR" smtClean="0"/>
              <a:t>18/02/2025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8525A3-6D3B-CDC0-161E-4D820EAE1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6EE2B5-8778-B5E6-B461-D54165E8D5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36E5B-27E8-0640-AA67-DC74C018406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4399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50A5B4-45DD-F403-38A2-480D4A850D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Artificial</a:t>
            </a:r>
            <a:r>
              <a:rPr lang="fr-FR" dirty="0"/>
              <a:t> Intelligence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1575906-091F-92C7-0572-BB94ED106B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err="1"/>
              <a:t>Deep</a:t>
            </a:r>
            <a:r>
              <a:rPr lang="fr-FR" dirty="0"/>
              <a:t> Learning – CNN model</a:t>
            </a:r>
          </a:p>
          <a:p>
            <a:endParaRPr lang="fr-FR" dirty="0"/>
          </a:p>
          <a:p>
            <a:endParaRPr lang="fr-FR" dirty="0"/>
          </a:p>
          <a:p>
            <a:pPr algn="ctr" rtl="0" fontAlgn="base"/>
            <a:r>
              <a:rPr lang="fr-FR" sz="1800" b="0" i="1" u="none" strike="noStrike" dirty="0">
                <a:solidFill>
                  <a:srgbClr val="000000"/>
                </a:solidFill>
                <a:effectLst/>
                <a:latin typeface="Neue Haas Grotesk Text Pro" panose="020B0504020202020204" pitchFamily="34" charset="77"/>
              </a:rPr>
              <a:t>IBANEZ Shirley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Neue Haas Grotesk Text Pro" panose="020B0504020202020204" pitchFamily="34" charset="77"/>
              </a:rPr>
              <a:t>​ - </a:t>
            </a:r>
            <a:r>
              <a:rPr lang="fr-FR" sz="1800" b="0" i="1" u="none" strike="noStrike" dirty="0">
                <a:solidFill>
                  <a:srgbClr val="000000"/>
                </a:solidFill>
                <a:effectLst/>
                <a:latin typeface="Neue Haas Grotesk Text Pro" panose="020B0504020202020204" pitchFamily="34" charset="77"/>
              </a:rPr>
              <a:t>HENIN Constance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Neue Haas Grotesk Text Pro" panose="020B0504020202020204" pitchFamily="34" charset="77"/>
              </a:rPr>
              <a:t>​ - </a:t>
            </a:r>
            <a:r>
              <a:rPr lang="fr-FR" sz="1800" b="0" i="1" u="none" strike="noStrike" dirty="0" err="1">
                <a:solidFill>
                  <a:srgbClr val="000000"/>
                </a:solidFill>
                <a:effectLst/>
                <a:latin typeface="Neue Haas Grotesk Text Pro" panose="020B0504020202020204" pitchFamily="34" charset="77"/>
              </a:rPr>
              <a:t>Ishak</a:t>
            </a:r>
            <a:r>
              <a:rPr lang="fr-FR" sz="1800" b="0" i="1" u="none" strike="noStrike" dirty="0">
                <a:solidFill>
                  <a:srgbClr val="000000"/>
                </a:solidFill>
                <a:effectLst/>
                <a:latin typeface="Neue Haas Grotesk Text Pro" panose="020B0504020202020204" pitchFamily="34" charset="77"/>
              </a:rPr>
              <a:t> </a:t>
            </a:r>
            <a:r>
              <a:rPr lang="fr-FR" sz="1800" b="0" i="1" u="none" strike="noStrike" dirty="0" err="1">
                <a:solidFill>
                  <a:srgbClr val="000000"/>
                </a:solidFill>
                <a:effectLst/>
                <a:latin typeface="Neue Haas Grotesk Text Pro" panose="020B0504020202020204" pitchFamily="34" charset="77"/>
              </a:rPr>
              <a:t>Edem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55219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7A780-7ACB-251E-222F-C954AA9F9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7079"/>
            <a:ext cx="10515600" cy="167081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Project 7: Project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Title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: Traffic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Sign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Recognition for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Autonomous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Vehicles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F7B119-29D6-A13C-F752-0DC3E2FD1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An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autonomous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vehicle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traffic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sign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recognition system capable of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accurately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detecting</a:t>
            </a:r>
            <a:endParaRPr lang="fr-FR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and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interpreting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traffic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signs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from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images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captured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by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onboard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cameras. This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project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advances</a:t>
            </a:r>
            <a:endParaRPr lang="fr-FR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the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capabilities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of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autonomous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vehicles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enabling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safer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and more efficient navigation in diverse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driving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environments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6252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BBE1F1-611A-7C25-FDB8-C853C6475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1) </a:t>
            </a:r>
            <a:r>
              <a:rPr lang="fr-FR" dirty="0" err="1"/>
              <a:t>Dataset</a:t>
            </a:r>
            <a:r>
              <a:rPr lang="fr-FR" dirty="0"/>
              <a:t> Collection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8A6241-25DE-E8D4-F27A-5E11ED688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/>
              <a:t>First </a:t>
            </a:r>
            <a:r>
              <a:rPr lang="fr-FR" b="1" dirty="0" err="1"/>
              <a:t>we</a:t>
            </a:r>
            <a:r>
              <a:rPr lang="fr-FR" b="1" dirty="0"/>
              <a:t> </a:t>
            </a:r>
            <a:r>
              <a:rPr lang="fr-FR" b="1" dirty="0" err="1"/>
              <a:t>imported</a:t>
            </a:r>
            <a:r>
              <a:rPr lang="fr-FR" b="1" dirty="0"/>
              <a:t> the </a:t>
            </a:r>
            <a:r>
              <a:rPr lang="fr-FR" b="1" dirty="0" err="1"/>
              <a:t>necessary</a:t>
            </a:r>
            <a:r>
              <a:rPr lang="fr-FR" b="1" dirty="0"/>
              <a:t> packages and </a:t>
            </a:r>
            <a:r>
              <a:rPr lang="fr-FR" b="1" dirty="0" err="1"/>
              <a:t>then</a:t>
            </a:r>
            <a:r>
              <a:rPr lang="fr-FR" b="1" dirty="0"/>
              <a:t> </a:t>
            </a:r>
            <a:r>
              <a:rPr lang="fr-FR" b="1" dirty="0" err="1"/>
              <a:t>choose</a:t>
            </a:r>
            <a:r>
              <a:rPr lang="fr-FR" b="1" dirty="0"/>
              <a:t> to import data </a:t>
            </a:r>
            <a:r>
              <a:rPr lang="fr-FR" b="1" dirty="0" err="1"/>
              <a:t>from</a:t>
            </a:r>
            <a:r>
              <a:rPr lang="fr-FR" b="1" dirty="0"/>
              <a:t> </a:t>
            </a:r>
            <a:r>
              <a:rPr lang="fr-FR" b="1" dirty="0" err="1"/>
              <a:t>kaggle</a:t>
            </a:r>
            <a:r>
              <a:rPr lang="fr-FR" b="1" dirty="0"/>
              <a:t>. </a:t>
            </a:r>
          </a:p>
          <a:p>
            <a:r>
              <a:rPr lang="fr-FR" b="1" dirty="0" err="1"/>
              <a:t>We</a:t>
            </a:r>
            <a:r>
              <a:rPr lang="fr-FR" b="1" dirty="0"/>
              <a:t> </a:t>
            </a:r>
            <a:r>
              <a:rPr lang="fr-FR" b="1" dirty="0" err="1"/>
              <a:t>imported</a:t>
            </a:r>
            <a:r>
              <a:rPr lang="fr-FR" b="1" dirty="0"/>
              <a:t> the </a:t>
            </a:r>
            <a:r>
              <a:rPr lang="fr-FR" b="1" dirty="0" err="1"/>
              <a:t>dataset</a:t>
            </a:r>
            <a:r>
              <a:rPr lang="fr-FR" b="1" dirty="0"/>
              <a:t> : GTSRB (German Traffic </a:t>
            </a:r>
            <a:r>
              <a:rPr lang="fr-FR" b="1" dirty="0" err="1"/>
              <a:t>Sign</a:t>
            </a:r>
            <a:r>
              <a:rPr lang="fr-FR" b="1" dirty="0"/>
              <a:t> Recognition Benchmark), </a:t>
            </a:r>
            <a:r>
              <a:rPr lang="fr-FR" b="1" dirty="0" err="1"/>
              <a:t>it</a:t>
            </a:r>
            <a:r>
              <a:rPr lang="fr-FR" b="1" dirty="0"/>
              <a:t> </a:t>
            </a:r>
            <a:r>
              <a:rPr lang="fr-FR" b="1" dirty="0" err="1"/>
              <a:t>c</a:t>
            </a:r>
            <a:r>
              <a:rPr lang="fr-FR" dirty="0" err="1"/>
              <a:t>ontains</a:t>
            </a:r>
            <a:r>
              <a:rPr lang="fr-FR" dirty="0"/>
              <a:t> images of </a:t>
            </a:r>
            <a:r>
              <a:rPr lang="fr-FR" dirty="0" err="1"/>
              <a:t>various</a:t>
            </a:r>
            <a:r>
              <a:rPr lang="fr-FR" dirty="0"/>
              <a:t> </a:t>
            </a:r>
            <a:r>
              <a:rPr lang="fr-FR" dirty="0" err="1"/>
              <a:t>traffic</a:t>
            </a:r>
            <a:r>
              <a:rPr lang="fr-FR" dirty="0"/>
              <a:t> </a:t>
            </a:r>
            <a:r>
              <a:rPr lang="fr-FR" dirty="0" err="1"/>
              <a:t>signs</a:t>
            </a:r>
            <a:r>
              <a:rPr lang="fr-FR" dirty="0"/>
              <a:t> </a:t>
            </a:r>
            <a:r>
              <a:rPr lang="fr-FR" dirty="0" err="1"/>
              <a:t>categorized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b="1" dirty="0"/>
              <a:t>43 classes</a:t>
            </a:r>
            <a:r>
              <a:rPr lang="fr-F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decided</a:t>
            </a:r>
            <a:r>
              <a:rPr lang="fr-FR" dirty="0"/>
              <a:t> to split </a:t>
            </a:r>
            <a:r>
              <a:rPr lang="fr-FR" dirty="0" err="1"/>
              <a:t>them</a:t>
            </a:r>
            <a:r>
              <a:rPr lang="fr-FR" dirty="0"/>
              <a:t> in 3 </a:t>
            </a:r>
            <a:r>
              <a:rPr lang="fr-FR" dirty="0" err="1"/>
              <a:t>dataset</a:t>
            </a:r>
            <a:r>
              <a:rPr lang="fr-FR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/>
              <a:t>Training set</a:t>
            </a:r>
            <a:r>
              <a:rPr lang="fr-FR" dirty="0"/>
              <a:t> (</a:t>
            </a:r>
            <a:r>
              <a:rPr lang="fr-FR" dirty="0" err="1"/>
              <a:t>Train.csv</a:t>
            </a:r>
            <a:r>
              <a:rPr lang="fr-FR" dirty="0"/>
              <a:t> + images)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 err="1"/>
              <a:t>Testing</a:t>
            </a:r>
            <a:r>
              <a:rPr lang="fr-FR" b="1" dirty="0"/>
              <a:t> set</a:t>
            </a:r>
            <a:r>
              <a:rPr lang="fr-FR" dirty="0"/>
              <a:t> (</a:t>
            </a:r>
            <a:r>
              <a:rPr lang="fr-FR" dirty="0" err="1"/>
              <a:t>Test.csv</a:t>
            </a:r>
            <a:r>
              <a:rPr lang="fr-FR" dirty="0"/>
              <a:t> + images)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/>
              <a:t>Meta set</a:t>
            </a:r>
            <a:r>
              <a:rPr lang="fr-FR" dirty="0"/>
              <a:t> (</a:t>
            </a:r>
            <a:r>
              <a:rPr lang="fr-FR" dirty="0" err="1"/>
              <a:t>Meta.csv</a:t>
            </a:r>
            <a:r>
              <a:rPr lang="fr-FR" dirty="0"/>
              <a:t> for </a:t>
            </a:r>
            <a:r>
              <a:rPr lang="fr-FR" dirty="0" err="1"/>
              <a:t>additional</a:t>
            </a:r>
            <a:r>
              <a:rPr lang="fr-FR" dirty="0"/>
              <a:t> information)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/>
              <a:t>After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preprocessed</a:t>
            </a:r>
            <a:r>
              <a:rPr lang="fr-FR" dirty="0"/>
              <a:t> and </a:t>
            </a:r>
            <a:r>
              <a:rPr lang="fr-FR" b="1" dirty="0" err="1"/>
              <a:t>organized</a:t>
            </a:r>
            <a:r>
              <a:rPr lang="fr-FR" b="1" dirty="0"/>
              <a:t> the images </a:t>
            </a:r>
            <a:r>
              <a:rPr lang="fr-FR" b="1" dirty="0" err="1"/>
              <a:t>into</a:t>
            </a:r>
            <a:r>
              <a:rPr lang="fr-FR" b="1" dirty="0"/>
              <a:t> </a:t>
            </a:r>
            <a:r>
              <a:rPr lang="fr-FR" b="1" dirty="0" err="1"/>
              <a:t>subfolders</a:t>
            </a:r>
            <a:r>
              <a:rPr lang="fr-FR" dirty="0"/>
              <a:t> for training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6493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75F45D-F276-0EFA-381C-1537E18B9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2) Model Training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89DDBE-F7AE-4BBC-AB00-4DE285566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 err="1"/>
              <a:t>Before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train the model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pre</a:t>
            </a:r>
            <a:r>
              <a:rPr lang="fr-FR" dirty="0"/>
              <a:t>-process the images for training and </a:t>
            </a:r>
            <a:r>
              <a:rPr lang="fr-FR" dirty="0" err="1"/>
              <a:t>testing</a:t>
            </a:r>
            <a:r>
              <a:rPr lang="fr-FR" dirty="0"/>
              <a:t>.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standardized</a:t>
            </a:r>
            <a:r>
              <a:rPr lang="fr-FR" dirty="0"/>
              <a:t> the pixel to augment the images by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b="1" dirty="0" err="1"/>
              <a:t>ImageDataGenerator</a:t>
            </a:r>
            <a:r>
              <a:rPr lang="fr-F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/>
              <a:t>Rescaling</a:t>
            </a: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Rotation, </a:t>
            </a:r>
            <a:r>
              <a:rPr lang="fr-FR" dirty="0" err="1"/>
              <a:t>width</a:t>
            </a:r>
            <a:r>
              <a:rPr lang="fr-FR" dirty="0"/>
              <a:t> &amp; </a:t>
            </a:r>
            <a:r>
              <a:rPr lang="fr-FR" dirty="0" err="1"/>
              <a:t>height</a:t>
            </a:r>
            <a:r>
              <a:rPr lang="fr-FR" dirty="0"/>
              <a:t> shifts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/>
              <a:t>Shear</a:t>
            </a:r>
            <a:r>
              <a:rPr lang="fr-FR" dirty="0"/>
              <a:t> &amp; zoom transformations</a:t>
            </a:r>
          </a:p>
          <a:p>
            <a:pPr marL="0" indent="0">
              <a:buNone/>
            </a:pPr>
            <a:r>
              <a:rPr lang="fr-FR" dirty="0"/>
              <a:t>So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created</a:t>
            </a:r>
            <a:r>
              <a:rPr lang="fr-FR" dirty="0"/>
              <a:t> the CNN Model </a:t>
            </a:r>
            <a:r>
              <a:rPr lang="fr-FR" dirty="0" err="1"/>
              <a:t>based</a:t>
            </a:r>
            <a:r>
              <a:rPr lang="fr-FR" dirty="0"/>
              <a:t> on 2 </a:t>
            </a:r>
            <a:r>
              <a:rPr lang="fr-FR" dirty="0" err="1"/>
              <a:t>hiden</a:t>
            </a:r>
            <a:r>
              <a:rPr lang="fr-FR" dirty="0"/>
              <a:t> </a:t>
            </a:r>
            <a:r>
              <a:rPr lang="fr-FR" dirty="0" err="1"/>
              <a:t>layers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relu and </a:t>
            </a:r>
            <a:r>
              <a:rPr lang="fr-FR" dirty="0" err="1"/>
              <a:t>trained</a:t>
            </a:r>
            <a:r>
              <a:rPr lang="fr-FR" dirty="0"/>
              <a:t> for </a:t>
            </a:r>
            <a:r>
              <a:rPr lang="fr-FR" b="1" dirty="0"/>
              <a:t>30 </a:t>
            </a:r>
            <a:r>
              <a:rPr lang="fr-FR" b="1" dirty="0" err="1"/>
              <a:t>epochs</a:t>
            </a:r>
            <a:r>
              <a:rPr lang="fr-FR" b="1" dirty="0"/>
              <a:t>, </a:t>
            </a:r>
            <a:r>
              <a:rPr lang="fr-FR" b="1" dirty="0" err="1"/>
              <a:t>u</a:t>
            </a:r>
            <a:r>
              <a:rPr lang="fr-FR" dirty="0" err="1"/>
              <a:t>sing</a:t>
            </a:r>
            <a:r>
              <a:rPr lang="fr-FR" dirty="0"/>
              <a:t> </a:t>
            </a:r>
            <a:r>
              <a:rPr lang="fr-FR" b="1" dirty="0" err="1"/>
              <a:t>categorical</a:t>
            </a:r>
            <a:r>
              <a:rPr lang="fr-FR" b="1" dirty="0"/>
              <a:t> cross-</a:t>
            </a:r>
            <a:r>
              <a:rPr lang="fr-FR" b="1" dirty="0" err="1"/>
              <a:t>entropy</a:t>
            </a:r>
            <a:r>
              <a:rPr lang="fr-FR" dirty="0"/>
              <a:t> </a:t>
            </a:r>
            <a:r>
              <a:rPr lang="fr-FR" dirty="0" err="1"/>
              <a:t>loss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 err="1"/>
              <a:t>After</a:t>
            </a:r>
            <a:r>
              <a:rPr lang="fr-FR" dirty="0"/>
              <a:t> training,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validated</a:t>
            </a:r>
            <a:r>
              <a:rPr lang="fr-FR" dirty="0"/>
              <a:t> the model performance by </a:t>
            </a:r>
            <a:r>
              <a:rPr lang="fr-FR" dirty="0" err="1"/>
              <a:t>looking</a:t>
            </a:r>
            <a:r>
              <a:rPr lang="fr-FR" dirty="0"/>
              <a:t> at the  </a:t>
            </a:r>
            <a:r>
              <a:rPr lang="fr-FR" dirty="0" err="1"/>
              <a:t>accuracy</a:t>
            </a:r>
            <a:r>
              <a:rPr lang="fr-FR" dirty="0"/>
              <a:t>.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F169793-3A14-2333-CCC8-78951E199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6176962"/>
            <a:ext cx="5886867" cy="49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44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6DC7F1-6AD1-94DB-66DB-95C6963B0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3) System </a:t>
            </a:r>
            <a:r>
              <a:rPr lang="fr-FR" dirty="0" err="1"/>
              <a:t>Integration</a:t>
            </a:r>
            <a:r>
              <a:rPr lang="fr-FR" dirty="0"/>
              <a:t> &amp; </a:t>
            </a:r>
            <a:r>
              <a:rPr lang="fr-FR" dirty="0" err="1"/>
              <a:t>Testing</a:t>
            </a:r>
            <a:r>
              <a:rPr lang="fr-FR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FE9E74-1F02-028D-19B6-27469CD08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9332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 err="1"/>
              <a:t>After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tested</a:t>
            </a:r>
            <a:r>
              <a:rPr lang="fr-FR" dirty="0"/>
              <a:t> the Model on </a:t>
            </a:r>
            <a:r>
              <a:rPr lang="fr-FR" b="1" dirty="0"/>
              <a:t>validation </a:t>
            </a:r>
            <a:r>
              <a:rPr lang="fr-FR" b="1" dirty="0" err="1"/>
              <a:t>dataset</a:t>
            </a:r>
            <a:r>
              <a:rPr lang="fr-FR" dirty="0"/>
              <a:t>.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analised</a:t>
            </a:r>
            <a:r>
              <a:rPr lang="fr-FR" dirty="0"/>
              <a:t> the Performance </a:t>
            </a:r>
            <a:r>
              <a:rPr lang="fr-FR" dirty="0" err="1"/>
              <a:t>evaluated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 err="1"/>
              <a:t>Accuracy</a:t>
            </a:r>
            <a:r>
              <a:rPr lang="fr-FR" dirty="0"/>
              <a:t> </a:t>
            </a:r>
            <a:r>
              <a:rPr lang="fr-FR" dirty="0" err="1"/>
              <a:t>metric</a:t>
            </a: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/>
              <a:t>Classification Report</a:t>
            </a:r>
            <a:r>
              <a:rPr lang="fr-FR" dirty="0"/>
              <a:t> (</a:t>
            </a:r>
            <a:r>
              <a:rPr lang="fr-FR" dirty="0" err="1"/>
              <a:t>Precision</a:t>
            </a:r>
            <a:r>
              <a:rPr lang="fr-FR" dirty="0"/>
              <a:t>, </a:t>
            </a:r>
            <a:r>
              <a:rPr lang="fr-FR" dirty="0" err="1"/>
              <a:t>Recall</a:t>
            </a:r>
            <a:r>
              <a:rPr lang="fr-FR" dirty="0"/>
              <a:t>, F1-score)</a:t>
            </a:r>
          </a:p>
          <a:p>
            <a:pPr marL="0" indent="0">
              <a:buNone/>
            </a:pPr>
            <a:r>
              <a:rPr lang="fr-FR" dirty="0" err="1"/>
              <a:t>We</a:t>
            </a:r>
            <a:r>
              <a:rPr lang="fr-FR" dirty="0"/>
              <a:t> have a </a:t>
            </a:r>
            <a:r>
              <a:rPr lang="fr-FR" dirty="0" err="1"/>
              <a:t>quit</a:t>
            </a:r>
            <a:r>
              <a:rPr lang="fr-FR" dirty="0"/>
              <a:t> good </a:t>
            </a:r>
            <a:r>
              <a:rPr lang="fr-FR" dirty="0" err="1"/>
              <a:t>accuracy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our</a:t>
            </a:r>
            <a:r>
              <a:rPr lang="fr-FR" dirty="0"/>
              <a:t> </a:t>
            </a:r>
            <a:r>
              <a:rPr lang="fr-FR" dirty="0" err="1"/>
              <a:t>developt</a:t>
            </a:r>
            <a:r>
              <a:rPr lang="fr-FR" dirty="0"/>
              <a:t> model (82%)</a:t>
            </a:r>
          </a:p>
        </p:txBody>
      </p:sp>
      <p:pic>
        <p:nvPicPr>
          <p:cNvPr id="5" name="Image 4" descr="Une image contenant texte, Tracé, capture d’écran, diagramme&#10;&#10;Description générée automatiquement">
            <a:extLst>
              <a:ext uri="{FF2B5EF4-FFF2-40B4-BE49-F238E27FC236}">
                <a16:creationId xmlns:a16="http://schemas.microsoft.com/office/drawing/2014/main" id="{4A020CDD-DADF-F523-03F9-58ECC83FE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306" y="1825625"/>
            <a:ext cx="5415267" cy="419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627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807E22-116E-CDF7-584B-BCED0C95C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237"/>
            <a:ext cx="10515600" cy="1325563"/>
          </a:xfrm>
        </p:spPr>
        <p:txBody>
          <a:bodyPr/>
          <a:lstStyle/>
          <a:p>
            <a:r>
              <a:rPr lang="fr-FR" dirty="0"/>
              <a:t>4) </a:t>
            </a:r>
            <a:r>
              <a:rPr lang="fr-FR" dirty="0" err="1"/>
              <a:t>Results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BC0663-03B4-DD2C-5BC1-01A94BE03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544" y="1529932"/>
            <a:ext cx="3135497" cy="48174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 err="1"/>
              <a:t>We</a:t>
            </a:r>
            <a:r>
              <a:rPr lang="fr-FR" sz="2000" dirty="0"/>
              <a:t> can </a:t>
            </a:r>
            <a:r>
              <a:rPr lang="fr-FR" sz="2000" dirty="0" err="1"/>
              <a:t>see</a:t>
            </a:r>
            <a:r>
              <a:rPr lang="fr-FR" sz="2000" dirty="0"/>
              <a:t> </a:t>
            </a:r>
            <a:r>
              <a:rPr lang="fr-FR" sz="2000" dirty="0" err="1"/>
              <a:t>that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</a:t>
            </a:r>
            <a:r>
              <a:rPr lang="fr-FR" sz="2000" dirty="0" err="1"/>
              <a:t>our</a:t>
            </a:r>
            <a:r>
              <a:rPr lang="fr-FR" sz="2000" dirty="0"/>
              <a:t> model </a:t>
            </a:r>
            <a:r>
              <a:rPr lang="fr-FR" sz="2000" dirty="0" err="1"/>
              <a:t>we</a:t>
            </a:r>
            <a:r>
              <a:rPr lang="fr-FR" sz="2000" dirty="0"/>
              <a:t> can have a </a:t>
            </a:r>
            <a:r>
              <a:rPr lang="fr-FR" sz="2000" dirty="0" err="1"/>
              <a:t>clear</a:t>
            </a:r>
            <a:r>
              <a:rPr lang="fr-FR" sz="2000" dirty="0"/>
              <a:t> </a:t>
            </a:r>
            <a:r>
              <a:rPr lang="fr-FR" sz="2000" dirty="0" err="1"/>
              <a:t>traffic</a:t>
            </a:r>
            <a:r>
              <a:rPr lang="fr-FR" sz="2000" dirty="0"/>
              <a:t> </a:t>
            </a:r>
            <a:r>
              <a:rPr lang="fr-FR" sz="2000" dirty="0" err="1"/>
              <a:t>sign</a:t>
            </a:r>
            <a:r>
              <a:rPr lang="fr-FR" sz="2000" dirty="0"/>
              <a:t> recognition </a:t>
            </a:r>
            <a:r>
              <a:rPr lang="fr-FR" sz="2000" dirty="0" err="1"/>
              <a:t>that</a:t>
            </a:r>
            <a:r>
              <a:rPr lang="fr-FR" sz="2000" dirty="0"/>
              <a:t> </a:t>
            </a:r>
            <a:r>
              <a:rPr lang="fr-FR" sz="2000" dirty="0" err="1"/>
              <a:t>improves</a:t>
            </a:r>
            <a:r>
              <a:rPr lang="fr-FR" sz="2000" dirty="0"/>
              <a:t> </a:t>
            </a:r>
            <a:r>
              <a:rPr lang="fr-FR" sz="2000" b="1" dirty="0"/>
              <a:t>road </a:t>
            </a:r>
            <a:r>
              <a:rPr lang="fr-FR" sz="2000" b="1" dirty="0" err="1"/>
              <a:t>safety</a:t>
            </a:r>
            <a:r>
              <a:rPr lang="fr-FR" sz="2000" dirty="0"/>
              <a:t> by </a:t>
            </a:r>
            <a:r>
              <a:rPr lang="fr-FR" sz="2000" dirty="0" err="1"/>
              <a:t>helping</a:t>
            </a:r>
            <a:r>
              <a:rPr lang="fr-FR" sz="2000" dirty="0"/>
              <a:t> </a:t>
            </a:r>
            <a:r>
              <a:rPr lang="fr-FR" sz="2000" dirty="0" err="1"/>
              <a:t>autonomous</a:t>
            </a:r>
            <a:r>
              <a:rPr lang="fr-FR" sz="2000" dirty="0"/>
              <a:t> </a:t>
            </a:r>
            <a:r>
              <a:rPr lang="fr-FR" sz="2000" dirty="0" err="1"/>
              <a:t>vehicles</a:t>
            </a:r>
            <a:r>
              <a:rPr lang="fr-FR" sz="2000" dirty="0"/>
              <a:t> </a:t>
            </a:r>
            <a:r>
              <a:rPr lang="fr-FR" sz="2000" dirty="0" err="1"/>
              <a:t>correctly</a:t>
            </a:r>
            <a:r>
              <a:rPr lang="fr-FR" sz="2000" dirty="0"/>
              <a:t> </a:t>
            </a:r>
            <a:r>
              <a:rPr lang="fr-FR" sz="2000" dirty="0" err="1"/>
              <a:t>interpret</a:t>
            </a:r>
            <a:r>
              <a:rPr lang="fr-FR" sz="2000" dirty="0"/>
              <a:t> </a:t>
            </a:r>
            <a:r>
              <a:rPr lang="fr-FR" sz="2000" dirty="0" err="1"/>
              <a:t>traffic</a:t>
            </a:r>
            <a:r>
              <a:rPr lang="fr-FR" sz="2000" dirty="0"/>
              <a:t> </a:t>
            </a:r>
            <a:r>
              <a:rPr lang="fr-FR" sz="2000" dirty="0" err="1"/>
              <a:t>signs</a:t>
            </a:r>
            <a:r>
              <a:rPr lang="fr-FR" sz="2000" dirty="0"/>
              <a:t>.</a:t>
            </a:r>
          </a:p>
          <a:p>
            <a:pPr marL="0" indent="0">
              <a:buNone/>
            </a:pPr>
            <a:r>
              <a:rPr lang="fr-FR" sz="2000" dirty="0" err="1"/>
              <a:t>We</a:t>
            </a:r>
            <a:r>
              <a:rPr lang="fr-FR" sz="2000" dirty="0"/>
              <a:t> </a:t>
            </a:r>
            <a:r>
              <a:rPr lang="fr-FR" sz="2000" dirty="0" err="1"/>
              <a:t>see</a:t>
            </a:r>
            <a:r>
              <a:rPr lang="fr-FR" sz="2000" dirty="0"/>
              <a:t> </a:t>
            </a:r>
            <a:r>
              <a:rPr lang="fr-FR" sz="2000" dirty="0" err="1"/>
              <a:t>here</a:t>
            </a:r>
            <a:r>
              <a:rPr lang="fr-FR" sz="2000" dirty="0"/>
              <a:t> </a:t>
            </a:r>
            <a:r>
              <a:rPr lang="fr-FR" sz="2000" dirty="0" err="1"/>
              <a:t>that</a:t>
            </a:r>
            <a:r>
              <a:rPr lang="fr-FR" sz="2000" dirty="0"/>
              <a:t> the first images </a:t>
            </a:r>
            <a:r>
              <a:rPr lang="fr-FR" sz="2000" dirty="0" err="1"/>
              <a:t>displayed</a:t>
            </a:r>
            <a:r>
              <a:rPr lang="fr-FR" sz="2000" dirty="0"/>
              <a:t> are </a:t>
            </a:r>
            <a:r>
              <a:rPr lang="fr-FR" sz="2000" dirty="0" err="1"/>
              <a:t>well</a:t>
            </a:r>
            <a:r>
              <a:rPr lang="fr-FR" sz="2000" dirty="0"/>
              <a:t> </a:t>
            </a:r>
            <a:r>
              <a:rPr lang="fr-FR" sz="2000" dirty="0" err="1"/>
              <a:t>tagged</a:t>
            </a:r>
            <a:r>
              <a:rPr lang="fr-FR" sz="2000" dirty="0"/>
              <a:t>. </a:t>
            </a:r>
          </a:p>
          <a:p>
            <a:pPr marL="0" indent="0">
              <a:buNone/>
            </a:pPr>
            <a:r>
              <a:rPr lang="fr-FR" sz="2000" dirty="0"/>
              <a:t>Our model help </a:t>
            </a:r>
            <a:r>
              <a:rPr lang="fr-FR" sz="2000" dirty="0" err="1"/>
              <a:t>reduce</a:t>
            </a:r>
            <a:r>
              <a:rPr lang="fr-FR" sz="2000" dirty="0"/>
              <a:t> chances of </a:t>
            </a:r>
            <a:r>
              <a:rPr lang="fr-FR" sz="2000" b="1" dirty="0"/>
              <a:t>accidents</a:t>
            </a:r>
            <a:r>
              <a:rPr lang="fr-FR" sz="2000" dirty="0"/>
              <a:t> due to </a:t>
            </a:r>
            <a:r>
              <a:rPr lang="fr-FR" sz="2000" dirty="0" err="1"/>
              <a:t>sign</a:t>
            </a:r>
            <a:r>
              <a:rPr lang="fr-FR" sz="2000" dirty="0"/>
              <a:t> </a:t>
            </a:r>
            <a:r>
              <a:rPr lang="fr-FR" sz="2000" dirty="0" err="1"/>
              <a:t>misinterpretation</a:t>
            </a:r>
            <a:r>
              <a:rPr lang="fr-FR" sz="2000" dirty="0"/>
              <a:t> and </a:t>
            </a:r>
            <a:r>
              <a:rPr lang="fr-FR" sz="2000" dirty="0" err="1"/>
              <a:t>cvan</a:t>
            </a:r>
            <a:r>
              <a:rPr lang="fr-FR" sz="2000" dirty="0"/>
              <a:t> </a:t>
            </a:r>
            <a:r>
              <a:rPr lang="fr-FR" sz="2000" dirty="0" err="1"/>
              <a:t>be</a:t>
            </a:r>
            <a:r>
              <a:rPr lang="fr-FR" sz="2000" dirty="0"/>
              <a:t> </a:t>
            </a:r>
            <a:r>
              <a:rPr lang="fr-FR" sz="2000" dirty="0" err="1"/>
              <a:t>integrated</a:t>
            </a:r>
            <a:r>
              <a:rPr lang="fr-FR" sz="2000" dirty="0"/>
              <a:t> </a:t>
            </a:r>
            <a:r>
              <a:rPr lang="fr-FR" sz="2000" dirty="0" err="1"/>
              <a:t>into</a:t>
            </a:r>
            <a:r>
              <a:rPr lang="fr-FR" sz="2000" dirty="0"/>
              <a:t> real-time </a:t>
            </a:r>
            <a:r>
              <a:rPr lang="fr-FR" sz="2000" b="1" dirty="0"/>
              <a:t>AI-</a:t>
            </a:r>
            <a:r>
              <a:rPr lang="fr-FR" sz="2000" b="1" dirty="0" err="1"/>
              <a:t>driven</a:t>
            </a:r>
            <a:r>
              <a:rPr lang="fr-FR" sz="2000" b="1" dirty="0"/>
              <a:t> navigation </a:t>
            </a:r>
            <a:r>
              <a:rPr lang="fr-FR" sz="2000" b="1" dirty="0" err="1"/>
              <a:t>systems</a:t>
            </a:r>
            <a:r>
              <a:rPr lang="fr-FR" sz="2000" dirty="0"/>
              <a:t>.</a:t>
            </a:r>
          </a:p>
        </p:txBody>
      </p:sp>
      <p:pic>
        <p:nvPicPr>
          <p:cNvPr id="5" name="Image 4" descr="Une image contenant capture d’écran, texte&#10;&#10;Description générée automatiquement">
            <a:extLst>
              <a:ext uri="{FF2B5EF4-FFF2-40B4-BE49-F238E27FC236}">
                <a16:creationId xmlns:a16="http://schemas.microsoft.com/office/drawing/2014/main" id="{0C5B4326-5254-8698-4A92-E9BA49D4D2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r="546"/>
          <a:stretch/>
        </p:blipFill>
        <p:spPr>
          <a:xfrm>
            <a:off x="838200" y="1384475"/>
            <a:ext cx="7729329" cy="51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23309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2359</TotalTime>
  <Words>351</Words>
  <Application>Microsoft Macintosh PowerPoint</Application>
  <PresentationFormat>Grand écran</PresentationFormat>
  <Paragraphs>33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Helvetica</vt:lpstr>
      <vt:lpstr>Neue Haas Grotesk Text Pro</vt:lpstr>
      <vt:lpstr>Segoe UI</vt:lpstr>
      <vt:lpstr>Thème Office</vt:lpstr>
      <vt:lpstr>Artificial Intelligence</vt:lpstr>
      <vt:lpstr>Project 7: Project Title: Traffic Sign Recognition for Autonomous Vehicles</vt:lpstr>
      <vt:lpstr>1) Dataset Collection</vt:lpstr>
      <vt:lpstr>2) Model Training</vt:lpstr>
      <vt:lpstr>3) System Integration &amp; Testing </vt:lpstr>
      <vt:lpstr>4)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HENIN Constance</dc:creator>
  <cp:lastModifiedBy>HENIN Constance</cp:lastModifiedBy>
  <cp:revision>5</cp:revision>
  <dcterms:created xsi:type="dcterms:W3CDTF">2025-02-18T18:22:22Z</dcterms:created>
  <dcterms:modified xsi:type="dcterms:W3CDTF">2025-02-20T09:41:50Z</dcterms:modified>
</cp:coreProperties>
</file>